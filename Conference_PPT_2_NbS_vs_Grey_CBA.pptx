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Nature-Based Solutions vs Grey Infrastructure:</a:t>
            </a:r>
          </a:p>
          <a:p>
            <a:r>
              <a:t>A Cost-Benefit Analysis for Himalayan Flood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Raj Amritam*, Nidhi Rawat</a:t>
            </a:r>
          </a:p>
          <a:p>
            <a:r>
              <a:t>Department of Environmental Science, DBS Global University, Dehradun</a:t>
            </a:r>
          </a:p>
          <a:p/>
          <a:p>
            <a:r>
              <a:t>National Conference on Climate Change Adaptation</a:t>
            </a:r>
          </a:p>
          <a:p>
            <a:r>
              <a:t>and Disaster Resilience (NCCADR-2025)</a:t>
            </a:r>
          </a:p>
          <a:p>
            <a:r>
              <a:t>TERI University, New Delhi, June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Flood Management Challenge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 OF CRISIS:</a:t>
            </a:r>
          </a:p>
          <a:p>
            <a:r>
              <a:t>• 40 million hectares flood-prone | 42% of disaster deaths</a:t>
            </a:r>
          </a:p>
          <a:p>
            <a:r>
              <a:t>• INR 25,000 Crore annual flood damage</a:t>
            </a:r>
          </a:p>
          <a:p>
            <a:r>
              <a:t>• IHR: 2013 Kedarnath (5,700 deaths), 2021 Chamoli, 2023 HP floods</a:t>
            </a:r>
          </a:p>
          <a:p/>
          <a:p>
            <a:r>
              <a:t>GREY INFRASTRUCTURE LIMITATIONS:</a:t>
            </a:r>
          </a:p>
          <a:p>
            <a:r>
              <a:t>• Capital-intensive: INR 2-15 Cr/km for embankments</a:t>
            </a:r>
          </a:p>
          <a:p>
            <a:r>
              <a:t>• Limited design life: 25-50 years</a:t>
            </a:r>
          </a:p>
          <a:p>
            <a:r>
              <a:t>• Ecological destruction: riparian habitat loss</a:t>
            </a:r>
          </a:p>
          <a:p>
            <a:r>
              <a:t>• Transfers risk downstream</a:t>
            </a:r>
          </a:p>
          <a:p>
            <a:r>
              <a:t>• FAILS when exceeded: catastrophic failure mode</a:t>
            </a:r>
          </a:p>
          <a:p/>
          <a:p>
            <a:r>
              <a:t>QUESTION: Can NbS provide BETTER flood protection at LOWER cost?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Nature-Based Solutions for Flood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(IUCN, 2016): Actions to protect, manage, and restore</a:t>
            </a:r>
          </a:p>
          <a:p>
            <a:r>
              <a:t>ecosystems that address societal challenges while providing</a:t>
            </a:r>
          </a:p>
          <a:p>
            <a:r>
              <a:t>biodiversity benefits.</a:t>
            </a:r>
          </a:p>
          <a:p/>
          <a:p>
            <a:r>
              <a:t>NbS TYPES FOR FLOOD MANAGEMENT:</a:t>
            </a:r>
          </a:p>
          <a:p>
            <a:r>
              <a:t>• Riparian Buffer Restoration (30-100m riverbank forests)</a:t>
            </a:r>
          </a:p>
          <a:p>
            <a:r>
              <a:t>• Wetland Rehabilitation (floodplain storage)</a:t>
            </a:r>
          </a:p>
          <a:p>
            <a:r>
              <a:t>• Slope Afforestation (interception + infiltration)</a:t>
            </a:r>
          </a:p>
          <a:p>
            <a:r>
              <a:t>• Check Dam Cascades (headwater attenuation)</a:t>
            </a:r>
          </a:p>
          <a:p>
            <a:r>
              <a:t>• Terrace Enhancement (runoff reduction)</a:t>
            </a:r>
          </a:p>
          <a:p/>
          <a:p>
            <a:r>
              <a:t>MECHANISMS: Intercept rainfall → Increase infiltration →</a:t>
            </a:r>
          </a:p>
          <a:p>
            <a:r>
              <a:t>Store water → Slow flow → Attenuate peaks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Design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 AREA: Alaknanda-Mandakini watershed (12,511 km²)</a:t>
            </a:r>
          </a:p>
          <a:p/>
          <a:p>
            <a:r>
              <a:t>APPROACH: Scenario-based hydrological modeling</a:t>
            </a:r>
          </a:p>
          <a:p>
            <a:r>
              <a:t>• Baseline: No intervention (current state)</a:t>
            </a:r>
          </a:p>
          <a:p>
            <a:r>
              <a:t>• NbS: 47 optimal sites (231 km²) from AI-GIS MCDA</a:t>
            </a:r>
          </a:p>
          <a:p>
            <a:r>
              <a:t>• Grey: Equivalent investment in engineered structures</a:t>
            </a:r>
          </a:p>
          <a:p/>
          <a:p>
            <a:r>
              <a:t>MODELS: HEC-HMS (event) + SWAT (continuous)</a:t>
            </a:r>
          </a:p>
          <a:p>
            <a:r>
              <a:t>• Return periods: 10, 25, 50, 100 years</a:t>
            </a:r>
          </a:p>
          <a:p>
            <a:r>
              <a:t>• Climate: Current + RCP 4.5 + RCP 8.5 (2050)</a:t>
            </a:r>
          </a:p>
          <a:p/>
          <a:p>
            <a:r>
              <a:t>ECONOMICS: 50-year CBA, 8% discount rate</a:t>
            </a:r>
          </a:p>
          <a:p>
            <a:r>
              <a:t>• Benefits: Avoided damage + Co-benefits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Peak Discharge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RUDRAPRAYAG (Mandakini outlet):</a:t>
            </a:r>
          </a:p>
          <a:p/>
          <a:p>
            <a:r>
              <a:t>Return Period    NbS Reduction    Grey Reduction    Winner</a:t>
            </a:r>
          </a:p>
          <a:p>
            <a:r>
              <a:t>────────────    ─────────────    ──────────────    ──────</a:t>
            </a:r>
          </a:p>
          <a:p>
            <a:r>
              <a:t>10-year          -31.7%           -20.0%           NbS ✓</a:t>
            </a:r>
          </a:p>
          <a:p>
            <a:r>
              <a:t>25-year          -29.0%           -20.0%           NbS ✓</a:t>
            </a:r>
          </a:p>
          <a:p>
            <a:r>
              <a:t>50-year          -25.1%           -20.0%           NbS ✓</a:t>
            </a:r>
          </a:p>
          <a:p>
            <a:r>
              <a:t>100-year         -22.5%           -14.0%           NbS ✓</a:t>
            </a:r>
          </a:p>
          <a:p/>
          <a:p>
            <a:r>
              <a:t>FLOOD EXTENT (100-yr RP):</a:t>
            </a:r>
          </a:p>
          <a:p>
            <a:r>
              <a:t>• Baseline: 48.2 km²</a:t>
            </a:r>
          </a:p>
          <a:p>
            <a:r>
              <a:t>• NbS: 28.4 km² (-41.1%)</a:t>
            </a:r>
          </a:p>
          <a:p>
            <a:r>
              <a:t>• Grey: 35.6 km² (-26.1%)</a:t>
            </a:r>
          </a:p>
          <a:p>
            <a:r>
              <a:t>→ NbS reduces flood area 57% MORE than grey infrastructure!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Cost-Benefit Analysis (50-year horizon)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                NbS (47 sites)    Grey Infrastructure</a:t>
            </a:r>
          </a:p>
          <a:p>
            <a:r>
              <a:t>                        ──────────────    ──────────────────</a:t>
            </a:r>
          </a:p>
          <a:p>
            <a:r>
              <a:t>Capital Cost            INR 24.5 Cr       INR 38.2 Cr</a:t>
            </a:r>
          </a:p>
          <a:p>
            <a:r>
              <a:t>Annual Maintenance      INR 1.2 Cr/yr     INR 3.8 Cr/yr</a:t>
            </a:r>
          </a:p>
          <a:p>
            <a:r>
              <a:t>Design Life             50-100+ years     25-50 years</a:t>
            </a:r>
          </a:p>
          <a:p>
            <a:r>
              <a:t>────────────────────────────────────────────────────────</a:t>
            </a:r>
          </a:p>
          <a:p>
            <a:r>
              <a:t>Avoided Damage          INR 18.4 Cr/yr    INR 12.7 Cr/yr</a:t>
            </a:r>
          </a:p>
          <a:p>
            <a:r>
              <a:t>Co-benefits             INR 5.8 Cr/yr     INR 0.3 Cr/yr</a:t>
            </a:r>
          </a:p>
          <a:p>
            <a:r>
              <a:t>────────────────────────────────────────────────────────</a:t>
            </a:r>
          </a:p>
          <a:p>
            <a:r>
              <a:t>BCR                     4.2 : 1           1.8 : 1</a:t>
            </a:r>
          </a:p>
          <a:p>
            <a:r>
              <a:t>NPV (@ 8%)             INR 85.3 Cr       INR 28.6 Cr</a:t>
            </a:r>
          </a:p>
          <a:p>
            <a:r>
              <a:t>IRR                     34%               14%</a:t>
            </a:r>
          </a:p>
          <a:p/>
          <a:p>
            <a:r>
              <a:t>★ NbS: 2.3x BETTER return on investment!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NbS Co-Benefits: INR 5.8 Crore/year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BREAKDOWN:</a:t>
            </a:r>
          </a:p>
          <a:p/>
          <a:p>
            <a:r>
              <a:t>Carbon Sequestration ......... INR 2.1 Cr/yr</a:t>
            </a:r>
          </a:p>
          <a:p>
            <a:r>
              <a:t>  (14,000 tCO2e/yr × INR 1,500/tCO2e)</a:t>
            </a:r>
          </a:p>
          <a:p/>
          <a:p>
            <a:r>
              <a:t>Biodiversity Habitat ......... INR 1.4 Cr/yr</a:t>
            </a:r>
          </a:p>
          <a:p>
            <a:r>
              <a:t>  (231 km² restored habitat, species recovery)</a:t>
            </a:r>
          </a:p>
          <a:p/>
          <a:p>
            <a:r>
              <a:t>Water Quality Improvement .... INR 1.2 Cr/yr</a:t>
            </a:r>
          </a:p>
          <a:p>
            <a:r>
              <a:t>  (Reduced sediment load, drinking water protection)</a:t>
            </a:r>
          </a:p>
          <a:p/>
          <a:p>
            <a:r>
              <a:t>Livelihood Benefits .......... INR 1.1 Cr/yr</a:t>
            </a:r>
          </a:p>
          <a:p>
            <a:r>
              <a:t>  (NTFP, ecotourism, fodder, sustainable harvest)</a:t>
            </a:r>
          </a:p>
          <a:p/>
          <a:p>
            <a:r>
              <a:t>→ Grey infrastructure co-benefits: nearly ZERO (INR 0.3 Cr)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Performance Under Climate Change (2050)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NbS RESILIENCE:</a:t>
            </a:r>
          </a:p>
          <a:p/>
          <a:p>
            <a:r>
              <a:t>Scenario              NbS Efficacy Retained    Still Better than Grey?</a:t>
            </a:r>
          </a:p>
          <a:p>
            <a:r>
              <a:t>──────────────        ─────────────────────    ─────────────────────</a:t>
            </a:r>
          </a:p>
          <a:p>
            <a:r>
              <a:t>RCP 4.5 (moderate)    73%                      YES (NbS: 16-23%)</a:t>
            </a:r>
          </a:p>
          <a:p>
            <a:r>
              <a:t>RCP 8.5 (severe)      62%                      EQUAL (NbS: 14-20%)</a:t>
            </a:r>
          </a:p>
          <a:p/>
          <a:p>
            <a:r>
              <a:t>WHY NbS IS MORE RESILIENT:</a:t>
            </a:r>
          </a:p>
          <a:p>
            <a:r>
              <a:t>• Self-maintaining: ecosystems adapt to new conditions</a:t>
            </a:r>
          </a:p>
          <a:p>
            <a:r>
              <a:t>• No catastrophic failure mode (unlike dam overtopping)</a:t>
            </a:r>
          </a:p>
          <a:p>
            <a:r>
              <a:t>• Growing effectiveness as forests mature (decades)</a:t>
            </a:r>
          </a:p>
          <a:p>
            <a:r>
              <a:t>• Additional carbon sequestration under higher CO2</a:t>
            </a:r>
          </a:p>
          <a:p/>
          <a:p>
            <a:r>
              <a:t>Grey infrastructure DEGRADES faster under climate change</a:t>
            </a:r>
          </a:p>
          <a:p>
            <a:r>
              <a:t>(accelerated erosion, higher maintenance, earlier replacement)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EVIDENCE:</a:t>
            </a:r>
          </a:p>
          <a:p/>
          <a:p>
            <a:r>
              <a:t>1. ALLOCATE minimum 20% of flood management budget to NbS</a:t>
            </a:r>
          </a:p>
          <a:p>
            <a:r>
              <a:t>   (Currently: &lt;2% nationally)</a:t>
            </a:r>
          </a:p>
          <a:p/>
          <a:p>
            <a:r>
              <a:t>2. INTEGRATE NbS into State Disaster Management Plans</a:t>
            </a:r>
          </a:p>
          <a:p>
            <a:r>
              <a:t>   as mandatory alongside grey infrastructure</a:t>
            </a:r>
          </a:p>
          <a:p/>
          <a:p>
            <a:r>
              <a:t>3. ADOPT Hydro-Spatial Modeling Framework (HSMF) as</a:t>
            </a:r>
          </a:p>
          <a:p>
            <a:r>
              <a:t>   standard assessment tool across IHR states</a:t>
            </a:r>
          </a:p>
          <a:p/>
          <a:p>
            <a:r>
              <a:t>4. ESTABLISH Payment for Ecosystem Services (PES)</a:t>
            </a:r>
          </a:p>
          <a:p>
            <a:r>
              <a:t>   for NbS maintenance from downstream beneficiaries</a:t>
            </a:r>
          </a:p>
          <a:p/>
          <a:p>
            <a:r>
              <a:t>5. MANDATE NbS-equivalence analysis in EIAs for</a:t>
            </a:r>
          </a:p>
          <a:p>
            <a:r>
              <a:t>   all new grey flood control projects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/>
          <a:p>
            <a:r>
              <a:t>✓ NbS reduces floods 22-34% at 36% LOWER cost than grey</a:t>
            </a:r>
          </a:p>
          <a:p>
            <a:r>
              <a:t>✓ BCR 4.2:1 (NbS) vs 1.8:1 (Grey) — NbS is 2.3x better</a:t>
            </a:r>
          </a:p>
          <a:p>
            <a:r>
              <a:t>✓ Co-benefits worth INR 5.8 Cr/yr (grey: nearly zero)</a:t>
            </a:r>
          </a:p>
          <a:p>
            <a:r>
              <a:t>✓ NbS maintains performance under climate change</a:t>
            </a:r>
          </a:p>
          <a:p>
            <a:r>
              <a:t>✓ 71-82% community acceptance</a:t>
            </a:r>
          </a:p>
          <a:p>
            <a:r>
              <a:t>✓ Framework transferable (60% less data for new basins)</a:t>
            </a:r>
          </a:p>
          <a:p/>
          <a:p>
            <a:r>
              <a:t>BOTTOM LINE:</a:t>
            </a:r>
          </a:p>
          <a:p>
            <a:r>
              <a:t>NbS is scientifically superior, economically viable,</a:t>
            </a:r>
          </a:p>
          <a:p>
            <a:r>
              <a:t>and community-supported for Himalayan flood management.</a:t>
            </a:r>
          </a:p>
          <a:p>
            <a:r>
              <a:t>It's time to shift from GREY to GREEN.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Raj Amritam</a:t>
            </a:r>
          </a:p>
          <a:p>
            <a:r>
              <a:t>raj.amritam@dbsgu.ac.in</a:t>
            </a:r>
          </a:p>
          <a:p/>
          <a:p>
            <a:r>
              <a:t>Department of Environmental Science</a:t>
            </a:r>
          </a:p>
          <a:p>
            <a:r>
              <a:t>DBS Global University, Dehradun</a:t>
            </a:r>
          </a:p>
          <a:p/>
          <a:p>
            <a:r>
              <a:t>Publications:</a:t>
            </a:r>
          </a:p>
          <a:p>
            <a:r>
              <a:t>1. Amritam &amp; Rawat (2025) J. Hydrology, 632, 130845</a:t>
            </a:r>
          </a:p>
          <a:p>
            <a:r>
              <a:t>2. Amritam &amp; Rawat (2025) Sci. Total Environ., 912, 169234</a:t>
            </a:r>
          </a:p>
          <a:p/>
          <a:p>
            <a:r>
              <a:t>Acknowledgements: SDMA, IMD, CWC, DBS Global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