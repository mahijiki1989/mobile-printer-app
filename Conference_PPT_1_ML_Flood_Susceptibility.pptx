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Ensemble for Flood Susceptibility</a:t>
            </a:r>
          </a:p>
          <a:p>
            <a:r>
              <a:t>Mapping in Garhwal Himalaya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Raj Amritam*, Nidhi Rawat</a:t>
            </a:r>
          </a:p>
          <a:p>
            <a:r>
              <a:t>Department of Environmental Science, DBS Global University, Dehradun</a:t>
            </a:r>
          </a:p>
          <a:p/>
          <a:p>
            <a:r>
              <a:t>International Conference on Geospatial Technologies</a:t>
            </a:r>
          </a:p>
          <a:p>
            <a:r>
              <a:t>for Disaster Management (ICGTDM-2025)</a:t>
            </a:r>
          </a:p>
          <a:p>
            <a:r>
              <a:t>IIT Roorkee,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India: 40M hectares flood-prone, INR 25,000 Cr annual damage</a:t>
            </a:r>
          </a:p>
          <a:p>
            <a:r>
              <a:t>• Indian Himalayan Region: Extreme precipitation + steep terrain + young geology</a:t>
            </a:r>
          </a:p>
          <a:p>
            <a:r>
              <a:t>• 2013 Kedarnath: 5,700+ deaths - worst single flood event</a:t>
            </a:r>
          </a:p>
          <a:p>
            <a:r>
              <a:t>• AI/ML methods revolutionizing flood susceptibility mapping globally</a:t>
            </a:r>
          </a:p>
          <a:p>
            <a:r>
              <a:t>• GAP: No ensemble ML framework validated for Garhwal Himalaya conditions</a:t>
            </a:r>
          </a:p>
          <a:p>
            <a:r>
              <a:t>• Need: High-accuracy flood maps for NbS planning &amp; disaster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ensemble ML model (Random Forest + XGBoost) for flood</a:t>
            </a:r>
          </a:p>
          <a:p>
            <a:r>
              <a:t>   susceptibility mapping in Alaknanda-Mandakini watershed</a:t>
            </a:r>
          </a:p>
          <a:p/>
          <a:p>
            <a:r>
              <a:t>2. Identify key geo-environmental conditioning factors</a:t>
            </a:r>
          </a:p>
          <a:p/>
          <a:p>
            <a:r>
              <a:t>3. Compare ensemble performance against individual models</a:t>
            </a:r>
          </a:p>
          <a:p>
            <a:r>
              <a:t>   (RF, XGBoost, SVM, ANN)</a:t>
            </a:r>
          </a:p>
          <a:p/>
          <a:p>
            <a:r>
              <a:t>4. Validate through spatial cross-validation and field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Area: Alaknanda-Mandakini Watershed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Location: Garhwal Himalaya, Uttarakhand, India</a:t>
            </a:r>
          </a:p>
          <a:p>
            <a:r>
              <a:t>• Area: 12,511 km² | Elevation: 475-7,816 m</a:t>
            </a:r>
          </a:p>
          <a:p>
            <a:r>
              <a:t>• Rainfall: 1,200-2,800 mm (75-85% monsoonal)</a:t>
            </a:r>
          </a:p>
          <a:p>
            <a:r>
              <a:t>• Major events: 2013, 2021, 2023 floods</a:t>
            </a:r>
          </a:p>
          <a:p>
            <a:r>
              <a:t>• Drainage density: 3.42-3.87 km/km²</a:t>
            </a:r>
          </a:p>
          <a:p>
            <a:r>
              <a:t>• LULC: 32% forest, 15% scrubland, 12% agriculture</a:t>
            </a:r>
          </a:p>
          <a:p>
            <a:r>
              <a:t>• Geological complexity: Lesser + Higher + Tethys Himalaya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DATA:</a:t>
            </a:r>
          </a:p>
          <a:p>
            <a:r>
              <a:t>• Flood inventory: 347 GPS-documented flood points</a:t>
            </a:r>
          </a:p>
          <a:p>
            <a:r>
              <a:t>• 14 conditioning factors (DEM, slope, TWI, rainfall, LULC, etc.)</a:t>
            </a:r>
          </a:p>
          <a:p>
            <a:r>
              <a:t>• Multicollinearity check: All VIF &lt; 5</a:t>
            </a:r>
          </a:p>
          <a:p/>
          <a:p>
            <a:r>
              <a:t>MODELS:</a:t>
            </a:r>
          </a:p>
          <a:p>
            <a:r>
              <a:t>• Random Forest: 500 trees, sqrt features, 5-fold CV</a:t>
            </a:r>
          </a:p>
          <a:p>
            <a:r>
              <a:t>• XGBoost: 300 trees, depth=6, lr=0.1, Bayesian optimization</a:t>
            </a:r>
          </a:p>
          <a:p>
            <a:r>
              <a:t>• Ensemble: Weighted voting (RF:0.45 + XGB:0.55)</a:t>
            </a:r>
          </a:p>
          <a:p>
            <a:r>
              <a:t>• Comparison: SVM (RBF), ANN (MLP)</a:t>
            </a:r>
          </a:p>
          <a:p/>
          <a:p>
            <a:r>
              <a:t>VALIDATION: AUC-ROC, Accuracy, F1, Kappa, 10-fold spatial CV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┌─────────────────┬────────┬──────────┬─────────┬────────┐</a:t>
            </a:r>
          </a:p>
          <a:p>
            <a:r>
              <a:t>│ Model           │ AUC    │ Accuracy │ F1      │ Kappa  │</a:t>
            </a:r>
          </a:p>
          <a:p>
            <a:r>
              <a:t>├─────────────────┼────────┼──────────┼─────────┼────────┤</a:t>
            </a:r>
          </a:p>
          <a:p>
            <a:r>
              <a:t>│ Random Forest   │ 0.921  │ 87.5%    │ 0.87    │ 0.75   │</a:t>
            </a:r>
          </a:p>
          <a:p>
            <a:r>
              <a:t>│ XGBoost         │ 0.938  │ 89.4%    │ 0.89    │ 0.79   │</a:t>
            </a:r>
          </a:p>
          <a:p>
            <a:r>
              <a:t>│ SVM (RBF)       │ 0.892  │ 84.1%    │ 0.84    │ 0.68   │</a:t>
            </a:r>
          </a:p>
          <a:p>
            <a:r>
              <a:t>│ ANN (MLP)       │ 0.903  │ 85.6%    │ 0.85    │ 0.71   │</a:t>
            </a:r>
          </a:p>
          <a:p>
            <a:r>
              <a:t>│ RF+XGB Ensemble │ 0.946  │ 91.3%    │ 0.91    │ 0.83   │</a:t>
            </a:r>
          </a:p>
          <a:p>
            <a:r>
              <a:t>└─────────────────┴────────┴──────────┴─────────┴────────┘</a:t>
            </a:r>
          </a:p>
          <a:p/>
          <a:p>
            <a:r>
              <a:t>★ Ensemble outperforms all individual models across ALL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Feature Importance (Top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Distance to River .............. 0.187 (18.7%)</a:t>
            </a:r>
          </a:p>
          <a:p>
            <a:r>
              <a:t>2. Slope Gradient ................. 0.156 (15.6%)</a:t>
            </a:r>
          </a:p>
          <a:p>
            <a:r>
              <a:t>3. Topographic Wetness Index ...... 0.134 (13.4%)</a:t>
            </a:r>
          </a:p>
          <a:p>
            <a:r>
              <a:t>4. Rainfall Intensity ............. 0.112 (11.2%)</a:t>
            </a:r>
          </a:p>
          <a:p>
            <a:r>
              <a:t>5. Elevation ...................... 0.098 (9.8%)</a:t>
            </a:r>
          </a:p>
          <a:p>
            <a:r>
              <a:t>6. LULC Class .................... 0.084 (8.4%)</a:t>
            </a:r>
          </a:p>
          <a:p>
            <a:r>
              <a:t>7. Drainage Density ............... 0.072 (7.2%)</a:t>
            </a:r>
          </a:p>
          <a:p/>
          <a:p>
            <a:r>
              <a:t>→ Top 5 factors account for 68.7% of total importance</a:t>
            </a:r>
          </a:p>
          <a:p>
            <a:r>
              <a:t>→ NDVI (vegetation) at rank 8 supports NbS rationale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Flood Susceptibility Zone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Zone Distribution (% area):</a:t>
            </a:r>
          </a:p>
          <a:p/>
          <a:p>
            <a:r>
              <a:t>          Alaknanda    Mandakini</a:t>
            </a:r>
          </a:p>
          <a:p>
            <a:r>
              <a:t>Very High:   8.2%       11.4%</a:t>
            </a:r>
          </a:p>
          <a:p>
            <a:r>
              <a:t>High:       14.6%       18.3%</a:t>
            </a:r>
          </a:p>
          <a:p>
            <a:r>
              <a:t>Moderate:   22.8%       24.1%</a:t>
            </a:r>
          </a:p>
          <a:p>
            <a:r>
              <a:t>Low:        31.2%       27.8%</a:t>
            </a:r>
          </a:p>
          <a:p>
            <a:r>
              <a:t>Very Low:   23.2%       18.4%</a:t>
            </a:r>
          </a:p>
          <a:p/>
          <a:p>
            <a:r>
              <a:t>→ Mandakini: 29.7% in High/Very High (vs 22.8% Alaknanda)</a:t>
            </a:r>
          </a:p>
          <a:p>
            <a:r>
              <a:t>→ Consistent with 2013 Kedarnath disaster epicenter 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✓ RF+XGBoost ensemble: AUC=0.946, Accuracy=91.3%</a:t>
            </a:r>
          </a:p>
          <a:p>
            <a:r>
              <a:t>✓ Distance to river is dominant predictor (18.7%)</a:t>
            </a:r>
          </a:p>
          <a:p>
            <a:r>
              <a:t>✓ Mandakini more vulnerable than Alaknanda (29.7% vs 22.8% high zones)</a:t>
            </a:r>
          </a:p>
          <a:p>
            <a:r>
              <a:t>✓ Vegetation (NDVI) has measurable influence → supports NbS</a:t>
            </a:r>
          </a:p>
          <a:p/>
          <a:p>
            <a:r>
              <a:t>IMPLICATIONS:</a:t>
            </a:r>
          </a:p>
          <a:p>
            <a:r>
              <a:t>• Provides foundation for NbS site selection framework</a:t>
            </a:r>
          </a:p>
          <a:p>
            <a:r>
              <a:t>• Enables rapid flood hazard mapping for ungauged basins</a:t>
            </a:r>
          </a:p>
          <a:p>
            <a:r>
              <a:t>• Transferable to other Himalayan watersheds (validated: AUC=0.87)</a:t>
            </a:r>
          </a:p>
          <a:p>
            <a:r>
              <a:t>• Supports evidence-based disaster management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</a:t>
            </a:r>
          </a:p>
          <a:p>
            <a:r>
              <a:t>Raj Amritam</a:t>
            </a:r>
          </a:p>
          <a:p>
            <a:r>
              <a:t>raj.amritam@dbsgu.ac.in</a:t>
            </a:r>
          </a:p>
          <a:p>
            <a:r>
              <a:t>Department of Environmental Science</a:t>
            </a:r>
          </a:p>
          <a:p>
            <a:r>
              <a:t>DBS Global University, Dehradun</a:t>
            </a:r>
          </a:p>
          <a:p/>
          <a:p>
            <a:r>
              <a:t>Acknowledgements:</a:t>
            </a:r>
          </a:p>
          <a:p>
            <a:r>
              <a:t>• SDMA Uttarakhand (flood data)</a:t>
            </a:r>
          </a:p>
          <a:p>
            <a:r>
              <a:t>• IMD &amp; CWC (meteorological/hydrological data)</a:t>
            </a:r>
          </a:p>
          <a:p>
            <a:r>
              <a:t>• DBS Global University (infrastructure)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